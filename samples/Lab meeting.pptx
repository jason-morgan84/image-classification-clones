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7278-3B3F-572F-5D21-10FDD16AA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0C74E-4F6B-4BD0-ABC8-53BE015AD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ADEF7-6F30-FD75-ADF7-3174D218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9A708-DA23-17A1-A360-F0DD9EE8E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A468A-CB0E-4A8C-82F1-E1A3A4D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71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31A08-84F8-6458-663F-752914B6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94AEA-F82E-F88C-457B-5F33FD092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6A15C-828B-0F53-07FB-A4389212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F92D8-F03E-616F-0574-750C4B460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79C42-23D0-C891-3F77-3B64A292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96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B7471-80F6-5574-54C8-49A8A27E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FA316-E222-6710-6FF2-B82C34F99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98CDB-18F0-01B8-7BE3-812B1C658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3B748-E2AF-BFE6-1591-9BF7EBB8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6F2FF-BA24-D17F-25FB-79A8AFF2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91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2AB59-9366-144E-69B0-BE64043F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ED654-2AAD-C70B-B9B5-DBEAB6EC2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E69AB-FCBA-4B69-C433-7C3513323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2275F-B46A-4EF4-8062-8E4E83F65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1F159-3C22-65C2-E637-47901C7A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5D2DD-4182-FD09-DD60-E1B40776D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89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BC0AD-7663-5FA8-9369-8CDDF4B19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F22A6-8D18-C03A-F2BF-E7CA95E38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43276-1B59-DB18-C3CE-5F91B7E06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FE461-DF4E-5457-3993-BD3D4372E5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5361D-2D0F-267A-6B3B-DA0474203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5DFAA-4D91-EB17-28DA-0136A63B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3B4C70-7E06-5B9D-2F71-4291D80D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167F41-0FC3-7FD1-9E07-3EE4C019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80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297E-4622-5599-B9EC-9A4CFB93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2C381-E6BB-9B1B-7F1D-DC67EF556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7A6DB-96CA-1C45-41C9-0A749D4C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35578-A7BA-2CE7-E015-49F5CD8A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92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DEF9DD-F785-091A-0E04-F0EA6A92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57D05-01EA-4AEA-138F-927FF5B1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62006-4D14-07E4-5598-6E88A839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275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098C-F405-F721-553B-5DD35B8B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73FE1-D83F-FA8D-4DE5-9EBBEA7B9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1E3AA-2B72-EBCE-D755-3F9BA3C4C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5B83D-869A-2E60-153A-3348D681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8E4D6-8D6E-E3F1-9D29-B6FADAFB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4E4F3-81DD-5D3E-8C50-9933141B6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10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94492-6A87-CAAF-DC64-92992739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568B9-2C0D-0533-EFC3-CC215931F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1067E-BC45-0617-47F3-0AF3A7728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EB2BA-6395-1F9C-E07D-47DEA8A14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71299-42F5-A929-60B8-34B71D5B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5BA2B-72FE-8791-020F-D335F200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76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8956-81BA-DD55-AF0A-B5847509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07427-1C0D-531B-1FA5-2B1590787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5B122-C828-1F6B-B068-8CA5330A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284A7-6083-2987-DF25-55B7B5FAC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C209C-2C78-A37C-EA79-3CD1C22FC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49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EC46C2-C156-705E-B61B-D67DF11B3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09667-4DAF-B813-9AF1-CB71B9BEB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B1F0E-7759-7B31-DA42-B88D0C3AC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9C307-A7B0-0FB7-46F8-45549811D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D8473-90B5-4D30-528D-BF2C7922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19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89BD7-C806-B76D-4B40-7FFE017E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45451-0B97-6863-E90D-C49CCBCCA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360C7-0B69-226F-6406-F4BCF58AB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BBD42-B668-4BBA-971A-F39CF6FF160B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14D3-2613-95A0-CA99-F265C8B5E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A306C-B2A3-7AC9-78A6-83D09C028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16D14-9761-4D29-8C9C-876BC55B5E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35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B97E0-F871-A4CC-52A3-77D9460E51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Lab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A15DC-4C16-FA2B-7C38-890576F477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09/12/25</a:t>
            </a:r>
          </a:p>
        </p:txBody>
      </p:sp>
    </p:spTree>
    <p:extLst>
      <p:ext uri="{BB962C8B-B14F-4D97-AF65-F5344CB8AC3E}">
        <p14:creationId xmlns:p14="http://schemas.microsoft.com/office/powerpoint/2010/main" val="405702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33CB2-B11B-9BD5-C0A6-6FC80C510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000" dirty="0"/>
              <a:t>The role of 4EBP in </a:t>
            </a:r>
            <a:r>
              <a:rPr lang="en-GB" sz="2000" dirty="0" err="1"/>
              <a:t>Apc</a:t>
            </a:r>
            <a:r>
              <a:rPr lang="en-GB" sz="2000" dirty="0"/>
              <a:t>-Ras (AR) tumour growth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Effect of diet on tumour growth/invasion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Trametinib/Selumetinib </a:t>
            </a:r>
            <a:r>
              <a:rPr lang="en-GB" sz="2000" dirty="0" err="1"/>
              <a:t>pharmokinetics</a:t>
            </a:r>
            <a:endParaRPr lang="en-GB"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DDCC2F-948F-2893-7062-8DD113B39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Work in progress</a:t>
            </a:r>
          </a:p>
        </p:txBody>
      </p:sp>
    </p:spTree>
    <p:extLst>
      <p:ext uri="{BB962C8B-B14F-4D97-AF65-F5344CB8AC3E}">
        <p14:creationId xmlns:p14="http://schemas.microsoft.com/office/powerpoint/2010/main" val="249121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296DAD-86C5-1401-65D1-26AB9A316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046" y="1690688"/>
            <a:ext cx="6001588" cy="44964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7AAA10-C9E0-7A00-AD0E-EF410471845E}"/>
              </a:ext>
            </a:extLst>
          </p:cNvPr>
          <p:cNvSpPr/>
          <p:nvPr/>
        </p:nvSpPr>
        <p:spPr>
          <a:xfrm>
            <a:off x="6309360" y="3712464"/>
            <a:ext cx="2093976" cy="17007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2AB0198-6CDA-0C57-1CC1-5D347F06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2. The role of 4EBP in </a:t>
            </a:r>
            <a:r>
              <a:rPr lang="en-GB" sz="2400" b="1" dirty="0" err="1">
                <a:latin typeface="+mn-lt"/>
              </a:rPr>
              <a:t>Apc</a:t>
            </a:r>
            <a:r>
              <a:rPr lang="en-GB" sz="2400" b="1" dirty="0">
                <a:latin typeface="+mn-lt"/>
              </a:rPr>
              <a:t>-Ras (AR) tumour growth</a:t>
            </a:r>
          </a:p>
        </p:txBody>
      </p:sp>
    </p:spTree>
    <p:extLst>
      <p:ext uri="{BB962C8B-B14F-4D97-AF65-F5344CB8AC3E}">
        <p14:creationId xmlns:p14="http://schemas.microsoft.com/office/powerpoint/2010/main" val="143573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82E13-2560-7356-9EC1-6D8F2AD6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E7DDDC-0D5A-03A6-5C8D-43AC88E72B4E}"/>
              </a:ext>
            </a:extLst>
          </p:cNvPr>
          <p:cNvSpPr/>
          <p:nvPr/>
        </p:nvSpPr>
        <p:spPr>
          <a:xfrm>
            <a:off x="2260198" y="4442198"/>
            <a:ext cx="721560" cy="3693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A1B0E-96FD-89A1-ED74-E807D131D09A}"/>
              </a:ext>
            </a:extLst>
          </p:cNvPr>
          <p:cNvSpPr txBox="1"/>
          <p:nvPr/>
        </p:nvSpPr>
        <p:spPr>
          <a:xfrm>
            <a:off x="2292202" y="4442198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4EBP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E8D94C-7C31-5355-DC4F-5083CA5BACE3}"/>
              </a:ext>
            </a:extLst>
          </p:cNvPr>
          <p:cNvSpPr txBox="1"/>
          <p:nvPr/>
        </p:nvSpPr>
        <p:spPr>
          <a:xfrm>
            <a:off x="1507084" y="5011358"/>
            <a:ext cx="2949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Blocks cap-dependent translation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6A192F-50AE-1262-D64E-F9C975DBD6E4}"/>
              </a:ext>
            </a:extLst>
          </p:cNvPr>
          <p:cNvSpPr/>
          <p:nvPr/>
        </p:nvSpPr>
        <p:spPr>
          <a:xfrm>
            <a:off x="2981758" y="4442197"/>
            <a:ext cx="721560" cy="3693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EIF4E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5E043B-F1A1-50F9-5860-1DF4251E22C8}"/>
              </a:ext>
            </a:extLst>
          </p:cNvPr>
          <p:cNvSpPr/>
          <p:nvPr/>
        </p:nvSpPr>
        <p:spPr>
          <a:xfrm>
            <a:off x="7908446" y="3646671"/>
            <a:ext cx="721560" cy="3693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1316-96A0-E546-A85F-961293F771BE}"/>
              </a:ext>
            </a:extLst>
          </p:cNvPr>
          <p:cNvSpPr txBox="1"/>
          <p:nvPr/>
        </p:nvSpPr>
        <p:spPr>
          <a:xfrm>
            <a:off x="7940450" y="3646671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4EBP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EEB041B-78E1-AAD0-3D1F-E483ED12FE9B}"/>
              </a:ext>
            </a:extLst>
          </p:cNvPr>
          <p:cNvSpPr/>
          <p:nvPr/>
        </p:nvSpPr>
        <p:spPr>
          <a:xfrm>
            <a:off x="8849462" y="4442198"/>
            <a:ext cx="721560" cy="3693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EIF4E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361726-BFB1-9E67-2487-2BE9A8E3E527}"/>
              </a:ext>
            </a:extLst>
          </p:cNvPr>
          <p:cNvSpPr/>
          <p:nvPr/>
        </p:nvSpPr>
        <p:spPr>
          <a:xfrm>
            <a:off x="7748426" y="3485578"/>
            <a:ext cx="256032" cy="25603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F26104-0748-8F4E-8686-94BA287AB1DF}"/>
              </a:ext>
            </a:extLst>
          </p:cNvPr>
          <p:cNvSpPr txBox="1"/>
          <p:nvPr/>
        </p:nvSpPr>
        <p:spPr>
          <a:xfrm>
            <a:off x="7278368" y="5061985"/>
            <a:ext cx="2949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Allows cap-dependent translation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521CD0A-B640-2844-4AC7-072F2DB0F5D2}"/>
              </a:ext>
            </a:extLst>
          </p:cNvPr>
          <p:cNvSpPr/>
          <p:nvPr/>
        </p:nvSpPr>
        <p:spPr>
          <a:xfrm>
            <a:off x="7515662" y="2569683"/>
            <a:ext cx="721560" cy="3693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S6K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8819A4D-B03D-68E3-9D67-5ACE5650CE00}"/>
              </a:ext>
            </a:extLst>
          </p:cNvPr>
          <p:cNvCxnSpPr>
            <a:cxnSpLocks/>
          </p:cNvCxnSpPr>
          <p:nvPr/>
        </p:nvCxnSpPr>
        <p:spPr>
          <a:xfrm flipV="1">
            <a:off x="7876442" y="2991739"/>
            <a:ext cx="0" cy="42545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8D8A59B-E50E-C0DF-CF1C-B953AFBB936A}"/>
              </a:ext>
            </a:extLst>
          </p:cNvPr>
          <p:cNvSpPr/>
          <p:nvPr/>
        </p:nvSpPr>
        <p:spPr>
          <a:xfrm>
            <a:off x="1680262" y="2873422"/>
            <a:ext cx="721560" cy="369331"/>
          </a:xfrm>
          <a:prstGeom prst="roundRect">
            <a:avLst/>
          </a:prstGeom>
          <a:solidFill>
            <a:srgbClr val="FDE7F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</a:rPr>
              <a:t>FOXO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CC6EA3-6ACA-E263-2C21-9A113C4A86A2}"/>
              </a:ext>
            </a:extLst>
          </p:cNvPr>
          <p:cNvSpPr/>
          <p:nvPr/>
        </p:nvSpPr>
        <p:spPr>
          <a:xfrm>
            <a:off x="2730298" y="2881777"/>
            <a:ext cx="721560" cy="36933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</a:rPr>
              <a:t>ATF4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3158308-1915-3C25-D0CE-6BD859ADC57F}"/>
              </a:ext>
            </a:extLst>
          </p:cNvPr>
          <p:cNvCxnSpPr>
            <a:cxnSpLocks/>
          </p:cNvCxnSpPr>
          <p:nvPr/>
        </p:nvCxnSpPr>
        <p:spPr>
          <a:xfrm flipV="1">
            <a:off x="2730298" y="3316160"/>
            <a:ext cx="361190" cy="1036384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3516F2-0D9A-B09B-A03C-759AE971DA6E}"/>
              </a:ext>
            </a:extLst>
          </p:cNvPr>
          <p:cNvCxnSpPr>
            <a:cxnSpLocks/>
          </p:cNvCxnSpPr>
          <p:nvPr/>
        </p:nvCxnSpPr>
        <p:spPr>
          <a:xfrm flipH="1" flipV="1">
            <a:off x="2111607" y="3324283"/>
            <a:ext cx="361190" cy="1036384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itle 1">
            <a:extLst>
              <a:ext uri="{FF2B5EF4-FFF2-40B4-BE49-F238E27FC236}">
                <a16:creationId xmlns:a16="http://schemas.microsoft.com/office/drawing/2014/main" id="{3EFCC33A-5DDC-E165-9AF2-F598735CC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2. The role of 4EBP in </a:t>
            </a:r>
            <a:r>
              <a:rPr lang="en-GB" sz="2400" b="1" dirty="0" err="1">
                <a:latin typeface="+mn-lt"/>
              </a:rPr>
              <a:t>Apc</a:t>
            </a:r>
            <a:r>
              <a:rPr lang="en-GB" sz="2400" b="1" dirty="0">
                <a:latin typeface="+mn-lt"/>
              </a:rPr>
              <a:t>-Ras (AR) tumour growth</a:t>
            </a:r>
          </a:p>
        </p:txBody>
      </p:sp>
    </p:spTree>
    <p:extLst>
      <p:ext uri="{BB962C8B-B14F-4D97-AF65-F5344CB8AC3E}">
        <p14:creationId xmlns:p14="http://schemas.microsoft.com/office/powerpoint/2010/main" val="101946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 animBg="1"/>
      <p:bldP spid="20" grpId="0" animBg="1"/>
      <p:bldP spid="23" grpId="0"/>
      <p:bldP spid="25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4C7E3-F16E-560B-9116-36A3BDCA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95FE67-8FB1-19F9-37FE-BCB428526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8437" y="978408"/>
            <a:ext cx="6341532" cy="573300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3B522DE-8C75-B8FC-BCAB-167BD4EFC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2. The role of 4EBP in </a:t>
            </a:r>
            <a:r>
              <a:rPr lang="en-GB" sz="2400" b="1" dirty="0" err="1">
                <a:latin typeface="+mn-lt"/>
              </a:rPr>
              <a:t>Apc</a:t>
            </a:r>
            <a:r>
              <a:rPr lang="en-GB" sz="2400" b="1" dirty="0">
                <a:latin typeface="+mn-lt"/>
              </a:rPr>
              <a:t>-Ras (AR) tumour growth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76CCD-202E-1363-BED5-D15DB9F5DB7B}"/>
              </a:ext>
            </a:extLst>
          </p:cNvPr>
          <p:cNvSpPr/>
          <p:nvPr/>
        </p:nvSpPr>
        <p:spPr>
          <a:xfrm>
            <a:off x="3959352" y="950690"/>
            <a:ext cx="923544" cy="576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AAD165-90BC-EFCD-1616-70F013216EC6}"/>
              </a:ext>
            </a:extLst>
          </p:cNvPr>
          <p:cNvSpPr/>
          <p:nvPr/>
        </p:nvSpPr>
        <p:spPr>
          <a:xfrm>
            <a:off x="4953000" y="950690"/>
            <a:ext cx="923544" cy="576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46FD81-9207-EA6C-350D-15A35F63CFF5}"/>
              </a:ext>
            </a:extLst>
          </p:cNvPr>
          <p:cNvSpPr/>
          <p:nvPr/>
        </p:nvSpPr>
        <p:spPr>
          <a:xfrm>
            <a:off x="5876544" y="950690"/>
            <a:ext cx="923544" cy="576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AE843F-3835-DFF0-5209-C7513CD9FBD0}"/>
              </a:ext>
            </a:extLst>
          </p:cNvPr>
          <p:cNvSpPr/>
          <p:nvPr/>
        </p:nvSpPr>
        <p:spPr>
          <a:xfrm>
            <a:off x="6955009" y="950690"/>
            <a:ext cx="923544" cy="576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58D9E-A648-950B-7AA0-1E216B6260BF}"/>
              </a:ext>
            </a:extLst>
          </p:cNvPr>
          <p:cNvSpPr/>
          <p:nvPr/>
        </p:nvSpPr>
        <p:spPr>
          <a:xfrm>
            <a:off x="7951346" y="950690"/>
            <a:ext cx="923544" cy="576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36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5" grpId="0" animBg="1"/>
      <p:bldP spid="10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2F55-6C1A-3D84-D713-06E94641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934DC-A89F-0FF7-F496-9C1648BA4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Look at effect on tumour growth of knocking down and overexpressing 4EBP.</a:t>
            </a:r>
          </a:p>
          <a:p>
            <a:r>
              <a:rPr lang="en-GB" sz="2000" dirty="0"/>
              <a:t>Look at ImpL2 expression levels when knocking down and overexpressing 4EBP.</a:t>
            </a:r>
          </a:p>
          <a:p>
            <a:r>
              <a:rPr lang="en-GB" sz="2000" dirty="0"/>
              <a:t>Look at levels of 4EBP/p4EBP when knocking down ImpL2.</a:t>
            </a:r>
          </a:p>
          <a:p>
            <a:r>
              <a:rPr lang="en-GB" sz="2000" dirty="0"/>
              <a:t>Look at effect of knocking down ATF4 on tumour growth/ImpL2 expression/4EBP expression.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60CBD-2A4C-B2A2-1D80-2E3A49C66849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>
                <a:latin typeface="+mn-lt"/>
              </a:rPr>
              <a:t>2. The role of 4EBP in Apc-Ras (AR) tumour growth</a:t>
            </a:r>
            <a:endParaRPr lang="en-GB" sz="2400" b="1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C4482-F47F-F31B-C974-81F5BFA1A03F}"/>
              </a:ext>
            </a:extLst>
          </p:cNvPr>
          <p:cNvSpPr txBox="1"/>
          <p:nvPr/>
        </p:nvSpPr>
        <p:spPr>
          <a:xfrm>
            <a:off x="838200" y="1325563"/>
            <a:ext cx="959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To do:</a:t>
            </a:r>
          </a:p>
        </p:txBody>
      </p:sp>
    </p:spTree>
    <p:extLst>
      <p:ext uri="{BB962C8B-B14F-4D97-AF65-F5344CB8AC3E}">
        <p14:creationId xmlns:p14="http://schemas.microsoft.com/office/powerpoint/2010/main" val="3343674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CB18-B219-FA34-44AF-158C9C29B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33D4FCF-F98E-307C-479A-3421EB815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2. Effect of diet on tumour growth/invasion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5BF3A8-5210-9A45-37AD-52613E6F4A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56" y="1311754"/>
            <a:ext cx="2944178" cy="5156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06F212-5A03-8CAB-F841-E5CF44227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974" y="1971611"/>
            <a:ext cx="6001588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54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574B6-3F83-5FF9-C8A2-B245F7EC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EDD6232-7C10-A489-C03C-DBA17C479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2. Effect of diet on tumour growth/invasion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C1D35-5126-C046-D4B0-A0DBF60825C5}"/>
              </a:ext>
            </a:extLst>
          </p:cNvPr>
          <p:cNvSpPr txBox="1"/>
          <p:nvPr/>
        </p:nvSpPr>
        <p:spPr>
          <a:xfrm>
            <a:off x="838200" y="1325563"/>
            <a:ext cx="75106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Questions:</a:t>
            </a:r>
          </a:p>
          <a:p>
            <a:r>
              <a:rPr lang="en-GB" dirty="0"/>
              <a:t>1) Does genotype affect tumour growth/invasion (we know it does)?</a:t>
            </a:r>
          </a:p>
          <a:p>
            <a:r>
              <a:rPr lang="en-GB" dirty="0"/>
              <a:t>2) Does diet affect tumour growth/invasion?</a:t>
            </a:r>
          </a:p>
          <a:p>
            <a:r>
              <a:rPr lang="en-GB" dirty="0"/>
              <a:t>3) Is there an interaction between genotype/diet on tumour growth/invasion?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97D46-0609-9F66-7D18-484C4693A4D5}"/>
              </a:ext>
            </a:extLst>
          </p:cNvPr>
          <p:cNvSpPr txBox="1"/>
          <p:nvPr/>
        </p:nvSpPr>
        <p:spPr>
          <a:xfrm>
            <a:off x="838200" y="2828835"/>
            <a:ext cx="789132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Three genotypes: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AR ImpL2 RNAi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AR Snail OE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r>
              <a:rPr lang="en-GB" dirty="0"/>
              <a:t>Three diets: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Control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High calorie (x2 sugar)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High protein (x2 yeast)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r>
              <a:rPr lang="en-GB" dirty="0"/>
              <a:t>12 repeats, each of 12 flies from each genotype on each food.</a:t>
            </a:r>
          </a:p>
          <a:p>
            <a:endParaRPr lang="en-GB" dirty="0"/>
          </a:p>
          <a:p>
            <a:r>
              <a:rPr lang="en-GB" dirty="0"/>
              <a:t>(previously done with 3 repeats, each of 24 flies from each genotype on each food)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454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B4714-1158-D34F-0A3E-102B29F2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EF40FF0-6C9A-87D7-72E0-B439A8709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2. Effect of diet on tumour growth/invasion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2640F-058B-D42F-A88A-8CD15E03BE0A}"/>
              </a:ext>
            </a:extLst>
          </p:cNvPr>
          <p:cNvSpPr txBox="1"/>
          <p:nvPr/>
        </p:nvSpPr>
        <p:spPr>
          <a:xfrm>
            <a:off x="838200" y="1325563"/>
            <a:ext cx="75106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Questions:</a:t>
            </a:r>
          </a:p>
          <a:p>
            <a:r>
              <a:rPr lang="en-GB" dirty="0"/>
              <a:t>1) Does genotype affect tumour growth/invasion (we know it does)?</a:t>
            </a:r>
          </a:p>
          <a:p>
            <a:r>
              <a:rPr lang="en-GB" dirty="0"/>
              <a:t>2) Does diet affect tumour growth/invasion?</a:t>
            </a:r>
          </a:p>
          <a:p>
            <a:r>
              <a:rPr lang="en-GB" dirty="0"/>
              <a:t>3) Is there an interaction between genotype/diet on tumour growth/invasion?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5BA5DF-5DD6-CFE6-AB30-54ACD3547056}"/>
              </a:ext>
            </a:extLst>
          </p:cNvPr>
          <p:cNvSpPr txBox="1"/>
          <p:nvPr/>
        </p:nvSpPr>
        <p:spPr>
          <a:xfrm>
            <a:off x="838200" y="2828835"/>
            <a:ext cx="977562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Three options for stats: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2-way ANOVA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easy to interpret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assumes normality of residuals and homogeneity of variances, which may be optimistic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still a possibility if data meets assumptions</a:t>
            </a:r>
          </a:p>
          <a:p>
            <a:pPr lvl="1"/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Linear mixed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more powerful and takes into account all the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but harder to do and not as intuitive to interpret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still assumes ~normal residuals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+mj-lt"/>
              <a:buAutoNum type="arabicPeriod" startAt="3"/>
            </a:pPr>
            <a:r>
              <a:rPr lang="en-GB" dirty="0"/>
              <a:t>Kruskal-Wallis on each genotype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Non-parametric – an option if data has excessively heterogenous variances/is very not normal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I wouldn’t be able to statistically test for an interaction between diet and genotype.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54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7601B-3166-6EA0-D279-1C2A678A3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0D7DF2F-9CB7-2738-D30B-13C0DFED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2. Effect of diet on tumour growth/invasion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0BFC8-AD33-40AE-9AA1-A05A6CCA62B7}"/>
              </a:ext>
            </a:extLst>
          </p:cNvPr>
          <p:cNvSpPr txBox="1"/>
          <p:nvPr/>
        </p:nvSpPr>
        <p:spPr>
          <a:xfrm>
            <a:off x="838200" y="1325563"/>
            <a:ext cx="75106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Questions:</a:t>
            </a:r>
          </a:p>
          <a:p>
            <a:r>
              <a:rPr lang="en-GB" dirty="0"/>
              <a:t>1) Does genotype affect tumour growth/invasion (we know it does)?</a:t>
            </a:r>
          </a:p>
          <a:p>
            <a:r>
              <a:rPr lang="en-GB" dirty="0"/>
              <a:t>2) Does diet affect tumour growth/invasion?</a:t>
            </a:r>
          </a:p>
          <a:p>
            <a:r>
              <a:rPr lang="en-GB" dirty="0"/>
              <a:t>3) Is there an interaction between genotype/diet on tumour growth/invasion?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3D4116-1592-1DC3-D434-699BF9C79632}"/>
              </a:ext>
            </a:extLst>
          </p:cNvPr>
          <p:cNvSpPr txBox="1"/>
          <p:nvPr/>
        </p:nvSpPr>
        <p:spPr>
          <a:xfrm>
            <a:off x="838200" y="2828835"/>
            <a:ext cx="56357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 repeat 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Test (/work out how to do) stats.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(Maybe) do repeat 7-12.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Depending on results, further experiments to test in changes in growth due to diet may be due to changes in ImpL2 expression.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6B71D5-736C-C5FA-D79A-632D63852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986739"/>
            <a:ext cx="4707674" cy="352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98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2819A-F7C7-4A97-1D22-39D7B75A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B8CC4D5-5DD0-9365-29CB-A5FBAC680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3. Trametinib/Selumetinib </a:t>
            </a:r>
            <a:r>
              <a:rPr lang="en-GB" sz="2400" b="1" dirty="0" err="1">
                <a:latin typeface="+mn-lt"/>
              </a:rPr>
              <a:t>pharmokinetics</a:t>
            </a:r>
            <a:endParaRPr lang="en-GB" sz="2400" b="1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9C01C0-3605-0E80-6DC8-B91E9455A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Trametinib and selumetinib are both chemotherapies that act as MEK (MAPKK) inhibitors.</a:t>
            </a:r>
          </a:p>
          <a:p>
            <a:r>
              <a:rPr lang="en-GB" sz="2000" dirty="0"/>
              <a:t>In our model, trametinib reduces tumour growth and invasion but selumetinib doesn’t.</a:t>
            </a:r>
          </a:p>
          <a:p>
            <a:r>
              <a:rPr lang="en-GB" sz="2000" dirty="0"/>
              <a:t>Can we measure their </a:t>
            </a:r>
            <a:r>
              <a:rPr lang="en-GB" sz="2000" dirty="0" err="1"/>
              <a:t>pharmokinetics</a:t>
            </a:r>
            <a:r>
              <a:rPr lang="en-GB" sz="2000" dirty="0"/>
              <a:t> (steady state concentration/half life)?</a:t>
            </a:r>
          </a:p>
          <a:p>
            <a:r>
              <a:rPr lang="en-GB" sz="2000" dirty="0"/>
              <a:t>How does this correlate with </a:t>
            </a:r>
            <a:r>
              <a:rPr lang="en-GB" sz="2000" dirty="0" err="1"/>
              <a:t>pharmokinetics</a:t>
            </a:r>
            <a:r>
              <a:rPr lang="en-GB" sz="2000" dirty="0"/>
              <a:t> in mammals?</a:t>
            </a:r>
          </a:p>
          <a:p>
            <a:r>
              <a:rPr lang="en-GB" sz="2000" dirty="0"/>
              <a:t>Could this explain why selumetinib does not have an effect?</a:t>
            </a:r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490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443D3-9E02-FAB7-065C-81DBB4E5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8C13753-ADFD-0957-F93C-D6893BD75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3. Trametinib/Selumetinib </a:t>
            </a:r>
            <a:r>
              <a:rPr lang="en-GB" sz="2400" b="1" dirty="0" err="1">
                <a:latin typeface="+mn-lt"/>
              </a:rPr>
              <a:t>pharmokinetics</a:t>
            </a:r>
            <a:endParaRPr lang="en-GB" sz="2400" b="1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6F6F2A-23A3-143D-78AF-4E79CE27E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We’re using mass spec to look at Trametinib concentrations.</a:t>
            </a:r>
          </a:p>
          <a:p>
            <a:r>
              <a:rPr lang="en-GB" sz="2000" dirty="0"/>
              <a:t>Following treatment, we can detect trametinib in fly guts and in flies without guts.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AF116F-AE92-3827-A0E4-B6EABD206CBA}"/>
              </a:ext>
            </a:extLst>
          </p:cNvPr>
          <p:cNvCxnSpPr/>
          <p:nvPr/>
        </p:nvCxnSpPr>
        <p:spPr>
          <a:xfrm flipV="1">
            <a:off x="1216152" y="4722876"/>
            <a:ext cx="0" cy="2057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B3B027-C23A-C8FC-5867-45D7EB45DC6A}"/>
              </a:ext>
            </a:extLst>
          </p:cNvPr>
          <p:cNvCxnSpPr/>
          <p:nvPr/>
        </p:nvCxnSpPr>
        <p:spPr>
          <a:xfrm flipV="1">
            <a:off x="5382768" y="4722876"/>
            <a:ext cx="0" cy="2057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9A7581-CD36-CFEE-E5AF-00AD7D22083B}"/>
              </a:ext>
            </a:extLst>
          </p:cNvPr>
          <p:cNvCxnSpPr/>
          <p:nvPr/>
        </p:nvCxnSpPr>
        <p:spPr>
          <a:xfrm flipV="1">
            <a:off x="6099048" y="4722876"/>
            <a:ext cx="0" cy="2057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F4A3BD-3642-4DDA-27AF-B280EFF3F910}"/>
              </a:ext>
            </a:extLst>
          </p:cNvPr>
          <p:cNvCxnSpPr/>
          <p:nvPr/>
        </p:nvCxnSpPr>
        <p:spPr>
          <a:xfrm flipV="1">
            <a:off x="6778752" y="4722876"/>
            <a:ext cx="0" cy="2057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5CD98E-4EE4-0568-0932-25FFB0F34B53}"/>
              </a:ext>
            </a:extLst>
          </p:cNvPr>
          <p:cNvCxnSpPr/>
          <p:nvPr/>
        </p:nvCxnSpPr>
        <p:spPr>
          <a:xfrm flipV="1">
            <a:off x="7464552" y="4722876"/>
            <a:ext cx="0" cy="2057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B70CE8-9503-5918-0E8E-262B407302AD}"/>
              </a:ext>
            </a:extLst>
          </p:cNvPr>
          <p:cNvCxnSpPr/>
          <p:nvPr/>
        </p:nvCxnSpPr>
        <p:spPr>
          <a:xfrm flipV="1">
            <a:off x="8132064" y="4722876"/>
            <a:ext cx="0" cy="2057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13A96D-2EE6-2B6F-AAF1-A8465DF228C2}"/>
              </a:ext>
            </a:extLst>
          </p:cNvPr>
          <p:cNvCxnSpPr/>
          <p:nvPr/>
        </p:nvCxnSpPr>
        <p:spPr>
          <a:xfrm flipV="1">
            <a:off x="10085832" y="4722876"/>
            <a:ext cx="0" cy="2057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8CD243-82DE-5B29-CC9C-6C3DDD222F04}"/>
              </a:ext>
            </a:extLst>
          </p:cNvPr>
          <p:cNvSpPr txBox="1"/>
          <p:nvPr/>
        </p:nvSpPr>
        <p:spPr>
          <a:xfrm>
            <a:off x="2020824" y="4949691"/>
            <a:ext cx="2616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 days on Trametinib food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95319C-032B-5A4C-C929-805B9FEECC0A}"/>
              </a:ext>
            </a:extLst>
          </p:cNvPr>
          <p:cNvSpPr txBox="1"/>
          <p:nvPr/>
        </p:nvSpPr>
        <p:spPr>
          <a:xfrm>
            <a:off x="803148" y="4105388"/>
            <a:ext cx="826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Put on food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3C130E-FF0D-316A-291E-E4FB410AA56C}"/>
              </a:ext>
            </a:extLst>
          </p:cNvPr>
          <p:cNvSpPr txBox="1"/>
          <p:nvPr/>
        </p:nvSpPr>
        <p:spPr>
          <a:xfrm>
            <a:off x="4904996" y="4105388"/>
            <a:ext cx="952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Take off food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F871F1-8FF3-F65D-CD3D-D88E66D2EEB5}"/>
              </a:ext>
            </a:extLst>
          </p:cNvPr>
          <p:cNvSpPr txBox="1"/>
          <p:nvPr/>
        </p:nvSpPr>
        <p:spPr>
          <a:xfrm>
            <a:off x="5767781" y="4928616"/>
            <a:ext cx="686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 day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37C269-CA63-1016-2AF5-895384AC97FD}"/>
              </a:ext>
            </a:extLst>
          </p:cNvPr>
          <p:cNvSpPr txBox="1"/>
          <p:nvPr/>
        </p:nvSpPr>
        <p:spPr>
          <a:xfrm>
            <a:off x="6409755" y="4374619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 days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6082C2-8449-433F-6AB5-9985A4FD5E60}"/>
              </a:ext>
            </a:extLst>
          </p:cNvPr>
          <p:cNvSpPr txBox="1"/>
          <p:nvPr/>
        </p:nvSpPr>
        <p:spPr>
          <a:xfrm>
            <a:off x="7108409" y="492861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 days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A15718-2709-0D71-1D03-917B69284B62}"/>
              </a:ext>
            </a:extLst>
          </p:cNvPr>
          <p:cNvSpPr txBox="1"/>
          <p:nvPr/>
        </p:nvSpPr>
        <p:spPr>
          <a:xfrm>
            <a:off x="7736588" y="4353543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 days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0781CC-6CB4-CC64-C8F9-5A961E2E18F3}"/>
              </a:ext>
            </a:extLst>
          </p:cNvPr>
          <p:cNvSpPr txBox="1"/>
          <p:nvPr/>
        </p:nvSpPr>
        <p:spPr>
          <a:xfrm>
            <a:off x="9698547" y="492861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 days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782826-D3C1-5404-5A6C-29B1EA56BB96}"/>
              </a:ext>
            </a:extLst>
          </p:cNvPr>
          <p:cNvCxnSpPr/>
          <p:nvPr/>
        </p:nvCxnSpPr>
        <p:spPr>
          <a:xfrm>
            <a:off x="1216152" y="4928616"/>
            <a:ext cx="88696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82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A7C90-17F4-571D-B5CB-5CC968384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DE923EF-67DF-A2C1-BAF4-7F2258F0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3. Trametinib/Selumetinib </a:t>
            </a:r>
            <a:r>
              <a:rPr lang="en-GB" sz="2400" b="1" dirty="0" err="1">
                <a:latin typeface="+mn-lt"/>
              </a:rPr>
              <a:t>pharmokinetics</a:t>
            </a:r>
            <a:endParaRPr lang="en-GB" sz="2400" b="1" dirty="0"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1DAAC4-80C1-864F-D0D5-B0A3F5B74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We’re using mass spec to look at Trametinib concentrations.</a:t>
            </a:r>
          </a:p>
          <a:p>
            <a:r>
              <a:rPr lang="en-GB" sz="2000" dirty="0"/>
              <a:t>Following treatment, we can detect trametinib in fly guts and in flies without guts.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FF4345-92F2-B34D-3B3C-E317D9A14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722" y="3235344"/>
            <a:ext cx="4894021" cy="344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2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3075B-59F2-108A-F435-6563CA52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54951-5894-3581-71B6-EAFCE14C1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Get results.</a:t>
            </a:r>
          </a:p>
          <a:p>
            <a:r>
              <a:rPr lang="en-GB" sz="2000" dirty="0"/>
              <a:t>Repeat if it doesn’t work.</a:t>
            </a:r>
          </a:p>
          <a:p>
            <a:r>
              <a:rPr lang="en-GB" sz="2000" dirty="0"/>
              <a:t>Opposite experiment – build up to steady state values.</a:t>
            </a:r>
          </a:p>
          <a:p>
            <a:r>
              <a:rPr lang="en-GB" sz="2000" dirty="0"/>
              <a:t>Test with selumetinib.</a:t>
            </a:r>
          </a:p>
          <a:p>
            <a:r>
              <a:rPr lang="en-GB" sz="2000" dirty="0"/>
              <a:t>Test with ARS flies.</a:t>
            </a:r>
          </a:p>
          <a:p>
            <a:r>
              <a:rPr lang="en-GB" sz="2000" dirty="0"/>
              <a:t>Use Erk reporter lines to look at changes in Erk activity over time in AR/ARS flies.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DDC799-6479-16B2-B139-B3B9C947C7DE}"/>
              </a:ext>
            </a:extLst>
          </p:cNvPr>
          <p:cNvSpPr txBox="1"/>
          <p:nvPr/>
        </p:nvSpPr>
        <p:spPr>
          <a:xfrm>
            <a:off x="838200" y="1325563"/>
            <a:ext cx="959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To do: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B53BCF-8022-F9F9-A20F-30472D38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+mn-lt"/>
              </a:rPr>
              <a:t>3. Trametinib/Selumetinib </a:t>
            </a:r>
            <a:r>
              <a:rPr lang="en-GB" sz="2400" b="1" dirty="0" err="1">
                <a:latin typeface="+mn-lt"/>
              </a:rPr>
              <a:t>pharmokinetics</a:t>
            </a:r>
            <a:endParaRPr lang="en-GB" sz="2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478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727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Lab meeting</vt:lpstr>
      <vt:lpstr>Work in progress</vt:lpstr>
      <vt:lpstr>2. The role of 4EBP in Apc-Ras (AR) tumour growth</vt:lpstr>
      <vt:lpstr>2. The role of 4EBP in Apc-Ras (AR) tumour growth</vt:lpstr>
      <vt:lpstr>2. The role of 4EBP in Apc-Ras (AR) tumour growth</vt:lpstr>
      <vt:lpstr>PowerPoint Presentation</vt:lpstr>
      <vt:lpstr>2. Effect of diet on tumour growth/invasion</vt:lpstr>
      <vt:lpstr>2. Effect of diet on tumour growth/invasion</vt:lpstr>
      <vt:lpstr>2. Effect of diet on tumour growth/invasion</vt:lpstr>
      <vt:lpstr>2. Effect of diet on tumour growth/invasion</vt:lpstr>
      <vt:lpstr>3. Trametinib/Selumetinib pharmokinetics</vt:lpstr>
      <vt:lpstr>3. Trametinib/Selumetinib pharmokinetics</vt:lpstr>
      <vt:lpstr>3. Trametinib/Selumetinib pharmokinetics</vt:lpstr>
      <vt:lpstr>3. Trametinib/Selumetinib pharmokinetics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Morgan</dc:creator>
  <cp:lastModifiedBy>Jason Morgan</cp:lastModifiedBy>
  <cp:revision>6</cp:revision>
  <dcterms:created xsi:type="dcterms:W3CDTF">2025-12-02T12:58:40Z</dcterms:created>
  <dcterms:modified xsi:type="dcterms:W3CDTF">2025-12-05T12:24:16Z</dcterms:modified>
</cp:coreProperties>
</file>